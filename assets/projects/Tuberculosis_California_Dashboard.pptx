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Superior California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Rate per 100,000 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Rate per 100,000 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 and Jurisdiction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Cases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Rate per 100,000 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Rate per 100,000 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Rate per 100,000 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Cases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Population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California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87cabbc0-9a44-433d-a9f4-d579427e7af8?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4c0f1295e38d401a" /><Relationship Type="http://schemas.openxmlformats.org/officeDocument/2006/relationships/slideLayout" Target="/ppt/slideLayouts/slideLayout8.xml" Id="Radab6dcfd0724ebe" /><Relationship Type="http://schemas.openxmlformats.org/officeDocument/2006/relationships/hyperlink" Target="https://app.powerbi.com/groups/me/reports/87cabbc0-9a44-433d-a9f4-d579427e7af8/?pbi_source=PowerPoint" TargetMode="External" Id="RelId0" /><Relationship Type="http://schemas.openxmlformats.org/officeDocument/2006/relationships/image" Target="/ppt/media/image4.png" Id="imgId92831448"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92d2b4b0d3424dc2" /><Relationship Type="http://schemas.openxmlformats.org/officeDocument/2006/relationships/slideLayout" Target="/ppt/slideLayouts/slideLayout8.xml" Id="R0501c1a8f01b42b9" /><Relationship Type="http://schemas.openxmlformats.org/officeDocument/2006/relationships/hyperlink" Target="https://app.powerbi.com/groups/me/reports/87cabbc0-9a44-433d-a9f4-d579427e7af8/?pbi_source=PowerPoint" TargetMode="External" Id="RelId1" /><Relationship Type="http://schemas.openxmlformats.org/officeDocument/2006/relationships/image" Target="/ppt/media/image5.png" Id="imgId92831449"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cb53737eb0e24a87" /><Relationship Type="http://schemas.openxmlformats.org/officeDocument/2006/relationships/slideLayout" Target="/ppt/slideLayouts/slideLayout8.xml" Id="R59cdbb2948cf4d18" /><Relationship Type="http://schemas.openxmlformats.org/officeDocument/2006/relationships/hyperlink" Target="https://app.powerbi.com/groups/me/reports/87cabbc0-9a44-433d-a9f4-d579427e7af8/?pbi_source=PowerPoint" TargetMode="External" Id="RelId2" /><Relationship Type="http://schemas.openxmlformats.org/officeDocument/2006/relationships/image" Target="/ppt/media/image6.png" Id="imgId9283145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4c052b3953c94940" /><Relationship Type="http://schemas.openxmlformats.org/officeDocument/2006/relationships/slideLayout" Target="/ppt/slideLayouts/slideLayout8.xml" Id="Rb1503ef030a842c6" /><Relationship Type="http://schemas.openxmlformats.org/officeDocument/2006/relationships/hyperlink" Target="https://app.powerbi.com/groups/me/reports/87cabbc0-9a44-433d-a9f4-d579427e7af8/?pbi_source=PowerPoint" TargetMode="External" Id="RelId3" /><Relationship Type="http://schemas.openxmlformats.org/officeDocument/2006/relationships/image" Target="/ppt/media/image7.png" Id="imgId9283145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e55df46541704688" /><Relationship Type="http://schemas.openxmlformats.org/officeDocument/2006/relationships/slideLayout" Target="/ppt/slideLayouts/slideLayout8.xml" Id="R7075d8d10df74317" /><Relationship Type="http://schemas.openxmlformats.org/officeDocument/2006/relationships/hyperlink" Target="https://app.powerbi.com/groups/me/reports/87cabbc0-9a44-433d-a9f4-d579427e7af8/?pbi_source=PowerPoint" TargetMode="External" Id="RelId4" /><Relationship Type="http://schemas.openxmlformats.org/officeDocument/2006/relationships/image" Target="/ppt/media/image8.png" Id="imgId92831452"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606d86561e634917" /><Relationship Type="http://schemas.openxmlformats.org/officeDocument/2006/relationships/slideLayout" Target="/ppt/slideLayouts/slideLayout8.xml" Id="R02e20b3316cf43d8" /><Relationship Type="http://schemas.openxmlformats.org/officeDocument/2006/relationships/hyperlink" Target="https://app.powerbi.com/groups/me/reports/87cabbc0-9a44-433d-a9f4-d579427e7af8/?pbi_source=PowerPoint" TargetMode="External" Id="RelId5" /><Relationship Type="http://schemas.openxmlformats.org/officeDocument/2006/relationships/image" Target="/ppt/media/image9.png" Id="imgId92831453"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ff5276c208aa4902" /><Relationship Type="http://schemas.openxmlformats.org/officeDocument/2006/relationships/slideLayout" Target="/ppt/slideLayouts/slideLayout8.xml" Id="R89aaa7b90b604af0" /><Relationship Type="http://schemas.openxmlformats.org/officeDocument/2006/relationships/hyperlink" Target="https://app.powerbi.com/groups/me/reports/87cabbc0-9a44-433d-a9f4-d579427e7af8/?pbi_source=PowerPoint" TargetMode="External" Id="RelId6" /><Relationship Type="http://schemas.openxmlformats.org/officeDocument/2006/relationships/image" Target="/ppt/media/imagea.png" Id="imgId92831454"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aa8545a57c42466b" /><Relationship Type="http://schemas.openxmlformats.org/officeDocument/2006/relationships/slideLayout" Target="/ppt/slideLayouts/slideLayout8.xml" Id="Rbdb2353f35044cd5" /><Relationship Type="http://schemas.openxmlformats.org/officeDocument/2006/relationships/hyperlink" Target="https://app.powerbi.com/groups/me/reports/87cabbc0-9a44-433d-a9f4-d579427e7af8/?pbi_source=PowerPoint" TargetMode="External" Id="RelId7" /><Relationship Type="http://schemas.openxmlformats.org/officeDocument/2006/relationships/image" Target="/ppt/media/imageb.png" Id="imgId92831455"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734ff0d9064f40b0" /><Relationship Type="http://schemas.openxmlformats.org/officeDocument/2006/relationships/slideLayout" Target="/ppt/slideLayouts/slideLayout8.xml" Id="Ra5b2f34fc27e475c" /><Relationship Type="http://schemas.openxmlformats.org/officeDocument/2006/relationships/hyperlink" Target="https://app.powerbi.com/groups/me/reports/87cabbc0-9a44-433d-a9f4-d579427e7af8/?pbi_source=PowerPoint" TargetMode="External" Id="RelId14" /><Relationship Type="http://schemas.openxmlformats.org/officeDocument/2006/relationships/image" Target="/ppt/media/image12.png" Id="imgId92831462"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a420d5188d964940" /><Relationship Type="http://schemas.openxmlformats.org/officeDocument/2006/relationships/slideLayout" Target="/ppt/slideLayouts/slideLayout8.xml" Id="R195a5185a15b4cb7" /><Relationship Type="http://schemas.openxmlformats.org/officeDocument/2006/relationships/hyperlink" Target="https://app.powerbi.com/groups/me/reports/87cabbc0-9a44-433d-a9f4-d579427e7af8/?pbi_source=PowerPoint" TargetMode="External" Id="RelId15" /><Relationship Type="http://schemas.openxmlformats.org/officeDocument/2006/relationships/image" Target="/ppt/media/image13.png" Id="imgId92831463"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f99cfe3fc8824a4e" /><Relationship Type="http://schemas.openxmlformats.org/officeDocument/2006/relationships/slideLayout" Target="/ppt/slideLayouts/slideLayout8.xml" Id="R67bee6e2971b4f88" /><Relationship Type="http://schemas.openxmlformats.org/officeDocument/2006/relationships/hyperlink" Target="https://app.powerbi.com/groups/me/reports/87cabbc0-9a44-433d-a9f4-d579427e7af8/?pbi_source=PowerPoint" TargetMode="External" Id="RelId16" /><Relationship Type="http://schemas.openxmlformats.org/officeDocument/2006/relationships/image" Target="/ppt/media/image14.png" Id="imgId92831464"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a13f1afe4ec740f5" /><Relationship Type="http://schemas.openxmlformats.org/officeDocument/2006/relationships/slideLayout" Target="/ppt/slideLayouts/slideLayout8.xml" Id="Rc3b9b361b4e44856" /><Relationship Type="http://schemas.openxmlformats.org/officeDocument/2006/relationships/hyperlink" Target="https://app.powerbi.com/groups/me/reports/87cabbc0-9a44-433d-a9f4-d579427e7af8/?pbi_source=PowerPoint" TargetMode="External" Id="RelId8" /><Relationship Type="http://schemas.openxmlformats.org/officeDocument/2006/relationships/image" Target="/ppt/media/imagec.png" Id="imgId92831456"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f3ad729e212548bd" /><Relationship Type="http://schemas.openxmlformats.org/officeDocument/2006/relationships/slideLayout" Target="/ppt/slideLayouts/slideLayout8.xml" Id="Rb552733ce2a7453a" /><Relationship Type="http://schemas.openxmlformats.org/officeDocument/2006/relationships/hyperlink" Target="https://app.powerbi.com/groups/me/reports/87cabbc0-9a44-433d-a9f4-d579427e7af8/?pbi_source=PowerPoint" TargetMode="External" Id="RelId9" /><Relationship Type="http://schemas.openxmlformats.org/officeDocument/2006/relationships/image" Target="/ppt/media/imaged.png" Id="imgId92831457"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4b74da2b18864d78" /><Relationship Type="http://schemas.openxmlformats.org/officeDocument/2006/relationships/slideLayout" Target="/ppt/slideLayouts/slideLayout8.xml" Id="Re89bfb0973054d95" /><Relationship Type="http://schemas.openxmlformats.org/officeDocument/2006/relationships/hyperlink" Target="https://app.powerbi.com/groups/me/reports/87cabbc0-9a44-433d-a9f4-d579427e7af8/?pbi_source=PowerPoint" TargetMode="External" Id="RelId10" /><Relationship Type="http://schemas.openxmlformats.org/officeDocument/2006/relationships/image" Target="/ppt/media/imagee.png" Id="imgId92831458"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6177bba8fa5744af" /><Relationship Type="http://schemas.openxmlformats.org/officeDocument/2006/relationships/slideLayout" Target="/ppt/slideLayouts/slideLayout8.xml" Id="Rc707f1ccf5584b2b" /><Relationship Type="http://schemas.openxmlformats.org/officeDocument/2006/relationships/hyperlink" Target="https://app.powerbi.com/groups/me/reports/87cabbc0-9a44-433d-a9f4-d579427e7af8/?pbi_source=PowerPoint" TargetMode="External" Id="RelId11" /><Relationship Type="http://schemas.openxmlformats.org/officeDocument/2006/relationships/image" Target="/ppt/media/imagef.png" Id="imgId92831459"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eecca51aec784514" /><Relationship Type="http://schemas.openxmlformats.org/officeDocument/2006/relationships/slideLayout" Target="/ppt/slideLayouts/slideLayout8.xml" Id="R56c3b70b3ba042da" /><Relationship Type="http://schemas.openxmlformats.org/officeDocument/2006/relationships/hyperlink" Target="https://app.powerbi.com/groups/me/reports/87cabbc0-9a44-433d-a9f4-d579427e7af8/?pbi_source=PowerPoint" TargetMode="External" Id="RelId12" /><Relationship Type="http://schemas.openxmlformats.org/officeDocument/2006/relationships/image" Target="/ppt/media/image10.png" Id="imgId92831460"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220ca6ebbbe34c91" /><Relationship Type="http://schemas.openxmlformats.org/officeDocument/2006/relationships/slideLayout" Target="/ppt/slideLayouts/slideLayout8.xml" Id="Rf6cec316b3814b04" /><Relationship Type="http://schemas.openxmlformats.org/officeDocument/2006/relationships/hyperlink" Target="https://app.powerbi.com/groups/me/reports/87cabbc0-9a44-433d-a9f4-d579427e7af8/?pbi_source=PowerPoint" TargetMode="External" Id="RelId13" /><Relationship Type="http://schemas.openxmlformats.org/officeDocument/2006/relationships/image" Target="/ppt/media/image11.png" Id="imgId92831461"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Tuberculosis_California_Dashboard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7/18/2025 5:39:46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7/18/2025 5:37:18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extbox ,California ,Superior California ,Superior California ,Superior California ,Superior California ,Superior California ,Superior California ,Superior California ,Superior California ,Superior California ,Superior California ,textbox ,textbox ,image ,textbox ,Superior California ,Superior California ,Superior California ,Superior California ,Superior California ,textbox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9283144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TB in California</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9283144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California</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Rate per 100,000 population by Year and Jurisdiction ,textbox ,Cases by Year and Jurisdiction ,Population by Year and Jurisdiction ,textbox ,California.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9283145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Superior California</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9283145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North Coast</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9283145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San Francisco Bay Area</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9283145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Northern San Joaquin Valley</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9283145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Central Coast</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9283145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Southern San Joaquin Valley</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Rate per 100,000 population by Year ,Cases by Year ,Population by Year ,textbox ,textbox ,California.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9283146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Age Group</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Rate per 100,000 population by Year ,Cases by Year ,Population by Year ,textbox ,textbox ,California.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9283146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Sex</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Rate per 100,000 population by Year ,Cases by Year ,Population by Year ,textbox ,textbo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9283146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Origin</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9283145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Inland Empire</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9283145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Los Angeles County</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9283145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Orange County</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textbox ,Rate per 100,000 population by Year and Jurisdiction ,Cases by Year and Jurisdiction ,Population by Year and Jurisdiction ,textbox ,California.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9283145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San Diego - Imperial</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Cases by Year ,textbox ,Population by Year ,Rate per 100,000 population by Year ,textbox ,California.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9283146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Total</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Rate per 100,000 population by Year ,Cases by Year ,Population by Year ,textbox ,textbox ,California.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9283146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Race/Ethnicity</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